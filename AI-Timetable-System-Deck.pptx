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548640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29216" y="548640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40112" y="548640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351008" y="548640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61904" y="548640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0" y="548640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418320" y="859536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729216" y="859536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040112" y="859536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351008" y="859536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661904" y="859536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0" y="859536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418320" y="1170432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729216" y="1170432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040112" y="1170432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51008" y="1170432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661904" y="1170432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972800" y="1170432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418320" y="1481328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729216" y="1481328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040112" y="1481328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351008" y="1481328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661904" y="1481328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972800" y="1481328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418320" y="1792224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729216" y="1792224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040112" y="1792224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351008" y="1792224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661904" y="1792224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972800" y="1792224"/>
            <a:ext cx="256032" cy="256032"/>
          </a:xfrm>
          <a:prstGeom prst="rect">
            <a:avLst>
              <a:gd name="adj" fmla="val 7143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784080" y="5120640"/>
            <a:ext cx="201168" cy="201168"/>
          </a:xfrm>
          <a:prstGeom prst="rect">
            <a:avLst>
              <a:gd name="adj" fmla="val 9091"/>
            </a:avLst>
          </a:prstGeom>
          <a:solidFill>
            <a:srgbClr val="E9A23B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040112" y="5120640"/>
            <a:ext cx="201168" cy="201168"/>
          </a:xfrm>
          <a:prstGeom prst="rect">
            <a:avLst>
              <a:gd name="adj" fmla="val 9091"/>
            </a:avLst>
          </a:prstGeom>
          <a:solidFill>
            <a:srgbClr val="E9A23B">
              <a:alpha val="4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296144" y="5120640"/>
            <a:ext cx="201168" cy="201168"/>
          </a:xfrm>
          <a:prstGeom prst="rect">
            <a:avLst>
              <a:gd name="adj" fmla="val 9091"/>
            </a:avLst>
          </a:prstGeom>
          <a:solidFill>
            <a:srgbClr val="E9A23B">
              <a:alpha val="4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552176" y="5120640"/>
            <a:ext cx="201168" cy="201168"/>
          </a:xfrm>
          <a:prstGeom prst="rect">
            <a:avLst>
              <a:gd name="adj" fmla="val 9091"/>
            </a:avLst>
          </a:prstGeom>
          <a:solidFill>
            <a:srgbClr val="E9A23B">
              <a:alpha val="4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784080" y="5376672"/>
            <a:ext cx="201168" cy="201168"/>
          </a:xfrm>
          <a:prstGeom prst="rect">
            <a:avLst>
              <a:gd name="adj" fmla="val 9091"/>
            </a:avLst>
          </a:prstGeom>
          <a:solidFill>
            <a:srgbClr val="E9A23B">
              <a:alpha val="4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040112" y="5376672"/>
            <a:ext cx="201168" cy="201168"/>
          </a:xfrm>
          <a:prstGeom prst="rect">
            <a:avLst>
              <a:gd name="adj" fmla="val 9091"/>
            </a:avLst>
          </a:prstGeom>
          <a:solidFill>
            <a:srgbClr val="E9A23B">
              <a:alpha val="4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296144" y="5376672"/>
            <a:ext cx="201168" cy="201168"/>
          </a:xfrm>
          <a:prstGeom prst="rect">
            <a:avLst>
              <a:gd name="adj" fmla="val 9091"/>
            </a:avLst>
          </a:prstGeom>
          <a:solidFill>
            <a:srgbClr val="E9A23B">
              <a:alpha val="4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552176" y="5376672"/>
            <a:ext cx="201168" cy="201168"/>
          </a:xfrm>
          <a:prstGeom prst="rect">
            <a:avLst>
              <a:gd name="adj" fmla="val 9091"/>
            </a:avLst>
          </a:prstGeom>
          <a:solidFill>
            <a:srgbClr val="E9A23B">
              <a:alpha val="4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784080" y="5632704"/>
            <a:ext cx="201168" cy="201168"/>
          </a:xfrm>
          <a:prstGeom prst="rect">
            <a:avLst>
              <a:gd name="adj" fmla="val 9091"/>
            </a:avLst>
          </a:prstGeom>
          <a:solidFill>
            <a:srgbClr val="E9A23B">
              <a:alpha val="4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040112" y="5632704"/>
            <a:ext cx="201168" cy="201168"/>
          </a:xfrm>
          <a:prstGeom prst="rect">
            <a:avLst>
              <a:gd name="adj" fmla="val 9091"/>
            </a:avLst>
          </a:prstGeom>
          <a:solidFill>
            <a:srgbClr val="E9A23B">
              <a:alpha val="4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296144" y="5632704"/>
            <a:ext cx="201168" cy="201168"/>
          </a:xfrm>
          <a:prstGeom prst="rect">
            <a:avLst>
              <a:gd name="adj" fmla="val 9091"/>
            </a:avLst>
          </a:prstGeom>
          <a:solidFill>
            <a:srgbClr val="E9A23B">
              <a:alpha val="4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552176" y="5632704"/>
            <a:ext cx="201168" cy="201168"/>
          </a:xfrm>
          <a:prstGeom prst="rect">
            <a:avLst>
              <a:gd name="adj" fmla="val 9091"/>
            </a:avLst>
          </a:prstGeom>
          <a:solidFill>
            <a:srgbClr val="E9A23B">
              <a:alpha val="4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OPERATIONS · TIMETABLE INTELLIGENCE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94360" y="2331720"/>
            <a:ext cx="8778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School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Timetable System</a:t>
            </a:r>
            <a:endParaRPr lang="en-US" sz="4400" dirty="0"/>
          </a:p>
        </p:txBody>
      </p:sp>
      <p:sp>
        <p:nvSpPr>
          <p:cNvPr id="46" name="Text 44"/>
          <p:cNvSpPr/>
          <p:nvPr/>
        </p:nvSpPr>
        <p:spPr>
          <a:xfrm>
            <a:off x="621792" y="4251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algorithm &amp; product design for feasibility-guaranteed, conflict-free timetable generation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1792" y="5074920"/>
            <a:ext cx="2359152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" y="5074920"/>
            <a:ext cx="2359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Feasibility Engine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145536" y="5074920"/>
            <a:ext cx="2084832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45536" y="507492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Zero-Conflict Solver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394960" y="5074920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94960" y="507492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Matching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552944" y="5074920"/>
            <a:ext cx="1719072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 w="12700">
            <a:solidFill>
              <a:srgbClr val="52796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52944" y="5074920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Drag &amp; Drop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21792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Edunext School ERP Platform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TIMETABLING BREAKS DOWN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failure points every school hits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4F7F5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93392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⊘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5681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double-booking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teacher assigned to two class-sections in the same period — caught only when a teacher physically can't be in two rooms.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0" y="173736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4F7F5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993392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03720" y="195681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Over- or under-allocated slots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2651760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totals for a teacher or class-section quietly exceed (or fall short of) the available periods, discovered mid-term.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4F7F5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370832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70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33425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 into “what’s wrong”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029200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find out a plan is broken only after generation fails — with no indication of which row of data caused it.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0" y="411480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4F7F5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4370832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4370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3720" y="433425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Absence chaos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17920" y="5029200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calls in sick and the admin manually scans grids for who's free, subject-qualified, and not already overloaded.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School Timetable System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DESIGN 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phases guarantee 100% generation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35000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Engine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7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any slot is placed — proves a full solution can exist, or names the exact row to fix.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685032"/>
            <a:ext cx="109728" cy="109728"/>
          </a:xfrm>
          <a:prstGeom prst="ellipse">
            <a:avLst/>
          </a:prstGeom>
          <a:solidFill>
            <a:srgbClr val="74C69D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5844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Slot-capacity check per class-section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4087368"/>
            <a:ext cx="109728" cy="109728"/>
          </a:xfrm>
          <a:prstGeom prst="ellipse">
            <a:avLst/>
          </a:prstGeom>
          <a:solidFill>
            <a:srgbClr val="74C69D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98678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weekly load vs. true capacity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489704"/>
            <a:ext cx="109728" cy="109728"/>
          </a:xfrm>
          <a:prstGeom prst="ellipse">
            <a:avLst/>
          </a:prstGeom>
          <a:solidFill>
            <a:srgbClr val="74C69D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3891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distribution &amp; block feasibility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892040"/>
            <a:ext cx="109728" cy="109728"/>
          </a:xfrm>
          <a:prstGeom prst="ellipse">
            <a:avLst/>
          </a:prstGeom>
          <a:solidFill>
            <a:srgbClr val="74C69D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79145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Shared/special room contention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5294376"/>
            <a:ext cx="109728" cy="109728"/>
          </a:xfrm>
          <a:prstGeom prst="ellipse">
            <a:avLst/>
          </a:prstGeom>
          <a:solidFill>
            <a:srgbClr val="74C69D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1937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rule conflicts (e.g. locked P1)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80760" y="178308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F4F7F5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235000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 Solver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0" y="28803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CSP solver that only ever runs once Phase A has proved a solution exists — so it cannot fail.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0" y="3685032"/>
            <a:ext cx="109728" cy="10972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35844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MRV + degree heuristic variable ordering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4087368"/>
            <a:ext cx="109728" cy="10972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398678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Least-constraining-value + forward checking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0" y="4489704"/>
            <a:ext cx="109728" cy="10972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43891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Conflict-directed backjumping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0" y="4892040"/>
            <a:ext cx="109728" cy="10972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479145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Min-conflicts local-search safety net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0" y="5294376"/>
            <a:ext cx="109728" cy="10972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51937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DB-level unique constraints as final guard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School Timetable System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layers, one live feedback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928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67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— Timetables · Setup Wizard (Directory + Class-Teacher) · Allocation Matrix · Drag-Drop · Reports · Substitutes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4F7F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08152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Service · Feasibility Engine · Solver Engine (queued) · Substitute Engine · Validation Rules · Notification Engine · Report Generator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B7CFC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315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5902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 (relational core with DB-level unique constraints) · Redis + BullMQ (solver job queue) · Socket.IO (live progress)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06440" y="2578608"/>
            <a:ext cx="228600" cy="164592"/>
          </a:xfrm>
          <a:prstGeom prst="downArrow">
            <a:avLst/>
          </a:prstGeom>
          <a:solidFill>
            <a:srgbClr val="52796F"/>
          </a:solidFill>
          <a:ln/>
        </p:spPr>
      </p:sp>
      <p:sp>
        <p:nvSpPr>
          <p:cNvPr id="14" name="Shape 12"/>
          <p:cNvSpPr/>
          <p:nvPr/>
        </p:nvSpPr>
        <p:spPr>
          <a:xfrm>
            <a:off x="5806440" y="4023360"/>
            <a:ext cx="228600" cy="164592"/>
          </a:xfrm>
          <a:prstGeom prst="downArrow">
            <a:avLst/>
          </a:prstGeom>
          <a:solidFill>
            <a:srgbClr val="52796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separate solver worker: generating ~2,000 slots with full constraint checking is CPU-heavy — it runs as a background job, streaming live progress back to the UI.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School Timetable System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conflict rule enforced at the database itself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4F7F5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6712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· sections · class_sections · rooms · subjects · teachers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4F7F5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80720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09981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class_subjects (curriculum) · teacher_subject_class_section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648456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4F7F5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73989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03250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timetable_config · periods · holidays · teacher_unavailability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581144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4F7F5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67258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Matrix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96519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timetable_slots — one row per (class-section, day, period)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178308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0F2A22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GUARANTEE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2331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unique keys on timetable_slots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675120" y="3200400"/>
            <a:ext cx="4663440" cy="713232"/>
          </a:xfrm>
          <a:prstGeom prst="roundRect">
            <a:avLst>
              <a:gd name="adj" fmla="val 7692"/>
            </a:avLst>
          </a:prstGeom>
          <a:solidFill>
            <a:srgbClr val="1B4332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32735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4C6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uq_class_slot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0" y="3547872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subject per class-section, per day, per period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4041648"/>
            <a:ext cx="4663440" cy="713232"/>
          </a:xfrm>
          <a:prstGeom prst="roundRect">
            <a:avLst>
              <a:gd name="adj" fmla="val 7692"/>
            </a:avLst>
          </a:prstGeom>
          <a:solidFill>
            <a:srgbClr val="1B4332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4114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4C6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uq_teacher_slot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0" y="4389120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teacher-occupancy event per day, per period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4882896"/>
            <a:ext cx="4663440" cy="713232"/>
          </a:xfrm>
          <a:prstGeom prst="roundRect">
            <a:avLst>
              <a:gd name="adj" fmla="val 7692"/>
            </a:avLst>
          </a:prstGeom>
          <a:solidFill>
            <a:srgbClr val="1B4332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49560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4C6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uq_room_slot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58000" y="5230368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room booking per day, per period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School Timetable System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 — SOLVING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constraint satisfaction problem, solved like an expert would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21408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required (class-section, subject, occurrence) — or one macro-variable for a double-period, merged, or split-elective group.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Ordering heuristics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51960" y="2121408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Most-constrained-variable first (MRV), least-constraining-value for domain choice, degree heuristic as tiebreak — mirrors how an experienced timetable-in-charge works.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0" y="2121408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+ forward checking; conflict-directed backjumping skips straight to the variable that caused a dead end.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1064240" cy="18288"/>
          </a:xfrm>
          <a:prstGeom prst="rect">
            <a:avLst/>
          </a:prstGeom>
          <a:solidFill>
            <a:srgbClr val="D8E3D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 — NEVER TRADED OFF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3606394" cy="402336"/>
          </a:xfrm>
          <a:prstGeom prst="roundRect">
            <a:avLst>
              <a:gd name="adj" fmla="val 50000"/>
            </a:avLst>
          </a:prstGeom>
          <a:solidFill>
            <a:srgbClr val="F4F7F5"/>
          </a:solidFill>
          <a:ln w="12700">
            <a:solidFill>
              <a:srgbClr val="B7CF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86200"/>
            <a:ext cx="360639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subjects share a class-section slot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19626" y="3886200"/>
            <a:ext cx="3906317" cy="402336"/>
          </a:xfrm>
          <a:prstGeom prst="roundRect">
            <a:avLst>
              <a:gd name="adj" fmla="val 50000"/>
            </a:avLst>
          </a:prstGeom>
          <a:solidFill>
            <a:srgbClr val="F4F7F5"/>
          </a:solidFill>
          <a:ln w="12700">
            <a:solidFill>
              <a:srgbClr val="B7CF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9626" y="3886200"/>
            <a:ext cx="3906317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teacher double-booked (occupancy-key aware)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90534" y="3886200"/>
            <a:ext cx="2031797" cy="402336"/>
          </a:xfrm>
          <a:prstGeom prst="roundRect">
            <a:avLst>
              <a:gd name="adj" fmla="val 50000"/>
            </a:avLst>
          </a:prstGeom>
          <a:solidFill>
            <a:srgbClr val="F4F7F5"/>
          </a:solidFill>
          <a:ln w="12700">
            <a:solidFill>
              <a:srgbClr val="B7CF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0534" y="3886200"/>
            <a:ext cx="2031797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room double-booked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398264"/>
            <a:ext cx="3456432" cy="402336"/>
          </a:xfrm>
          <a:prstGeom prst="roundRect">
            <a:avLst>
              <a:gd name="adj" fmla="val 50000"/>
            </a:avLst>
          </a:prstGeom>
          <a:solidFill>
            <a:srgbClr val="F4F7F5"/>
          </a:solidFill>
          <a:ln w="12700">
            <a:solidFill>
              <a:srgbClr val="B7CF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398264"/>
            <a:ext cx="3456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Per-subject / per-teacher daily maximums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69664" y="4398264"/>
            <a:ext cx="4131259" cy="402336"/>
          </a:xfrm>
          <a:prstGeom prst="roundRect">
            <a:avLst>
              <a:gd name="adj" fmla="val 50000"/>
            </a:avLst>
          </a:prstGeom>
          <a:solidFill>
            <a:srgbClr val="F4F7F5"/>
          </a:solidFill>
          <a:ln w="12700">
            <a:solidFill>
              <a:srgbClr val="B7CF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9664" y="4398264"/>
            <a:ext cx="413125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Alternate-period teachers: never adjacent periods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910328"/>
            <a:ext cx="4281221" cy="402336"/>
          </a:xfrm>
          <a:prstGeom prst="roundRect">
            <a:avLst>
              <a:gd name="adj" fmla="val 50000"/>
            </a:avLst>
          </a:prstGeom>
          <a:solidFill>
            <a:srgbClr val="F4F7F5"/>
          </a:solidFill>
          <a:ln w="12700">
            <a:solidFill>
              <a:srgbClr val="B7CF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910328"/>
            <a:ext cx="4281221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Alternate-day teachers: restricted to their day-set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94453" y="4910328"/>
            <a:ext cx="4281221" cy="402336"/>
          </a:xfrm>
          <a:prstGeom prst="roundRect">
            <a:avLst>
              <a:gd name="adj" fmla="val 50000"/>
            </a:avLst>
          </a:prstGeom>
          <a:solidFill>
            <a:srgbClr val="F4F7F5"/>
          </a:solidFill>
          <a:ln w="12700">
            <a:solidFill>
              <a:srgbClr val="B7CF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94453" y="4910328"/>
            <a:ext cx="4281221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Class-teacher “always first period” — domain-pruned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5422392"/>
            <a:ext cx="3156509" cy="402336"/>
          </a:xfrm>
          <a:prstGeom prst="roundRect">
            <a:avLst>
              <a:gd name="adj" fmla="val 50000"/>
            </a:avLst>
          </a:prstGeom>
          <a:solidFill>
            <a:srgbClr val="F4F7F5"/>
          </a:solidFill>
          <a:ln w="12700">
            <a:solidFill>
              <a:srgbClr val="B7CF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422392"/>
            <a:ext cx="315650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Same-subject-same-period-across-week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69741" y="5422392"/>
            <a:ext cx="4206240" cy="402336"/>
          </a:xfrm>
          <a:prstGeom prst="roundRect">
            <a:avLst>
              <a:gd name="adj" fmla="val 50000"/>
            </a:avLst>
          </a:prstGeom>
          <a:solidFill>
            <a:srgbClr val="F4F7F5"/>
          </a:solidFill>
          <a:ln w="12700">
            <a:solidFill>
              <a:srgbClr val="B7CF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69741" y="5422392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Consecutive/double-period blocks placed atomically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934456"/>
            <a:ext cx="4206240" cy="402336"/>
          </a:xfrm>
          <a:prstGeom prst="roundRect">
            <a:avLst>
              <a:gd name="adj" fmla="val 50000"/>
            </a:avLst>
          </a:prstGeom>
          <a:solidFill>
            <a:srgbClr val="F4F7F5"/>
          </a:solidFill>
          <a:ln w="12700">
            <a:solidFill>
              <a:srgbClr val="B7CF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934456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&amp; split groups synchronized across sections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School Timetable System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THAT IS NEVER BYPASSED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Teacher-level placement rules, enforced by domain pruning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F4F7F5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4C6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class_teacher_period_rule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Class-Teacher Period-1 Rule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33101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· always_first_period · random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per teacher, activated per section: assigning them as class teacher of a specific class-section (Teacher Mapping step) is what turns this rule on for that section.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F4F7F5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05740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057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4C6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period_pattern = alternate_period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0" y="26517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Alternate-Period Pattern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572000" y="33101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365760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of this teacher's placements on the same day can occupy adjacent periods — checked in the solver and in every manual drag-and-drop.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F4F7F5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05740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057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4C6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period_pattern = alternate_day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321040" y="26517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Alternate-Day Pattern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321040" y="33101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Mon / Wed / Fri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0" y="365760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outside the teacher's configured day-set is pruned from their domain; capacity math is recalculated to match the true available days.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School Timetable System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CLASS-SECTION &amp; MULTI-SECTION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periods, merged classes, split electives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7F5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02536"/>
            <a:ext cx="2651760" cy="786384"/>
          </a:xfrm>
          <a:prstGeom prst="roundRect">
            <a:avLst>
              <a:gd name="adj" fmla="val 6977"/>
            </a:avLst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0253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Consecutive blocks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4048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4C6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class_subjects.consecutive_block_size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703320" y="1947672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double-Maths period is one atomic macro-variable claiming two contiguous cells — it either fully places or fully backtracks, never leaving an orphaned half-period.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7F5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401568"/>
            <a:ext cx="2651760" cy="786384"/>
          </a:xfrm>
          <a:prstGeom prst="roundRect">
            <a:avLst>
              <a:gd name="adj" fmla="val 6977"/>
            </a:avLst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015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Merged teaching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80390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4C6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merged_teaching_groups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03320" y="3346704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teacher teaches Bio to 10-A + 10-B at once. A generated teacher_occupancy_key collapses both rows into a single occupancy event — no false double-booking, both class grids render correctly.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81144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7F5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800600"/>
            <a:ext cx="2651760" cy="786384"/>
          </a:xfrm>
          <a:prstGeom prst="roundRect">
            <a:avLst>
              <a:gd name="adj" fmla="val 6977"/>
            </a:avLst>
          </a:prstGeom>
          <a:solidFill>
            <a:srgbClr val="1B4332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800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electives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520293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4C6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elective_blocks / elective_options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03320" y="4745736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subject choices (e.g. language electives) are forced onto one synchronized slot across every option, so students can be routed correctly out of their home class-section.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School Timetable System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TEACHER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weighted bipartite match, not a guess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A is absent Monday — 4 periods affected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F4F7F5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·  5-A  ·  English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99232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F4F7F5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9923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 ·  7-B  ·  English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12464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F4F7F5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71246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 ·  8-C  ·  English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425696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F4F7F5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42569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  ·  9-D  ·  English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246888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1B4332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Substitute 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83880" y="29077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at P5, P7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0" y="370332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1B4332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3794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Substitute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83880" y="41422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at P1, P3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0" y="2569464"/>
            <a:ext cx="4297680" cy="310896"/>
          </a:xfrm>
          <a:prstGeom prst="line">
            <a:avLst/>
          </a:prstGeom>
          <a:noFill/>
          <a:ln w="22225">
            <a:solidFill>
              <a:srgbClr val="52796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3282696"/>
            <a:ext cx="4297680" cy="832104"/>
          </a:xfrm>
          <a:prstGeom prst="line">
            <a:avLst/>
          </a:prstGeom>
          <a:noFill/>
          <a:ln w="22225">
            <a:solidFill>
              <a:srgbClr val="5279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3995928"/>
            <a:ext cx="4297680" cy="-1115568"/>
          </a:xfrm>
          <a:prstGeom prst="line">
            <a:avLst/>
          </a:prstGeom>
          <a:noFill/>
          <a:ln w="22225">
            <a:solidFill>
              <a:srgbClr val="52796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4709160"/>
            <a:ext cx="4297680" cy="-1828800"/>
          </a:xfrm>
          <a:prstGeom prst="line">
            <a:avLst/>
          </a:prstGeom>
          <a:noFill/>
          <a:ln w="22225">
            <a:solidFill>
              <a:srgbClr val="5279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weighs subject specialism, section continuity, adjacent free periods, and fair spread of load across substitutes — resolved with a Hungarian / greedy-augmenting-path assignment.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School Timetable System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2,000-SLOT VIEW &amp; MANUAL EDITING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every slot. Move any slot. Never break a rule.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0F2A2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0195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7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slots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7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sections × 40/wk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63240" y="17830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0F2A22"/>
          </a:solidFill>
          <a:ln/>
        </p:spPr>
      </p:sp>
      <p:sp>
        <p:nvSpPr>
          <p:cNvPr id="8" name="Text 6"/>
          <p:cNvSpPr/>
          <p:nvPr/>
        </p:nvSpPr>
        <p:spPr>
          <a:xfrm>
            <a:off x="3063240" y="190195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99.35%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063240" y="25146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7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auto-filled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7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solver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77840" y="17830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0F2A22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190195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577840" y="25146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7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7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DB-enforced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183880" y="17830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Drag-and-drop is validated twice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83880" y="221284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Client-side, instantly, against an in-memory copy of the matrix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83880" y="271576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Server-side on drop-confirm, to guard against stale/concurrent edits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F4F7F5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3931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a card → every legal destination glows green in real time. Drop on an illegal cell → a red flash, a beep, and the exact reason: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279392"/>
            <a:ext cx="104241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279392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 Can't move here — Mrs. Sharma already teaches 7-B Maths in this slot (Mon, Period 3).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51206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placed cells can be locked, so a future re-run of the solver fills only the remaining gaps.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School Timetable System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EVERYONE INFORMED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 &amp; reports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TRIGGERS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212848"/>
            <a:ext cx="91440" cy="9144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 detected on a teacher or class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91440" cy="9144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1460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run completes (fill % + gaps)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91440" cy="9144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2608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published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447288"/>
            <a:ext cx="91440" cy="9144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3756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marked absent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58768"/>
            <a:ext cx="91440" cy="9144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74904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assigned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70248"/>
            <a:ext cx="91440" cy="9144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6052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eligible substitute found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LIBRARY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2212848"/>
            <a:ext cx="91440" cy="9144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210312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Class-section weekly timetable (print/PDF)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2624328"/>
            <a:ext cx="91440" cy="9144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51460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weekly timetable, free periods marked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09360" y="3035808"/>
            <a:ext cx="91440" cy="9144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292608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utilization report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3447288"/>
            <a:ext cx="91440" cy="9144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333756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load summary (ongoing health check)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09360" y="3858768"/>
            <a:ext cx="91440" cy="9144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374904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history by date range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709160"/>
            <a:ext cx="11064240" cy="18288"/>
          </a:xfrm>
          <a:prstGeom prst="rect">
            <a:avLst/>
          </a:prstGeom>
          <a:solidFill>
            <a:srgbClr val="D8E3DE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throughout: Class · Section · Teacher · Day · Date range · Subject     Export: PDF &amp; Excel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School Timetable System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phases, feasibility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3911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Masters, Config &amp; Feasibility Engine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7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Readiness Score before any solver code exists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8745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1B4332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03911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26280" y="25603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CSP Solver + Draft generation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26280" y="31089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7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Allocation Matrix (read-only first)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1B4332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203911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75320" y="25603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Drag-and-drop editing + Publish workflow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75320" y="31089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7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validated manual adjustments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7F5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18795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279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77240" y="4709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Substitute Teacher Engine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52578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matching + review screen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402336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7F5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418795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279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26280" y="4709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+ Notifications + LLM explanations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26280" y="52578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conflict reasoning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402336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7F5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418795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279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275320" y="4709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OR-Tools CP-SAT (optional)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75320" y="52578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Soft-optimization: workload balance, gap minimization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School Timetable System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640080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02368" y="640080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94976" y="640080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387584" y="640080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80192" y="640080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509760" y="932688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802368" y="932688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094976" y="932688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387584" y="932688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680192" y="932688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509760" y="1225296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802368" y="1225296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094976" y="1225296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387584" y="1225296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680192" y="1225296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509760" y="1517904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802368" y="1517904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094976" y="1517904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387584" y="1517904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680192" y="1517904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509760" y="1810512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802368" y="1810512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094976" y="1810512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387584" y="1810512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680192" y="1810512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509760" y="2103120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802368" y="2103120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094976" y="2103120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387584" y="2103120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680192" y="2103120"/>
            <a:ext cx="237744" cy="237744"/>
          </a:xfrm>
          <a:prstGeom prst="rect">
            <a:avLst>
              <a:gd name="adj" fmla="val 7692"/>
            </a:avLst>
          </a:prstGeom>
          <a:solidFill>
            <a:srgbClr val="52796F">
              <a:alpha val="4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4360" y="265176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621792" y="4343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7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 + configuration screens + the live Feasibility Engine — the module that makes the product feel intelligent from day one.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School Timetable System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E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2026-08-13T08:13:28Z</dcterms:created>
  <dcterms:modified xsi:type="dcterms:W3CDTF">2026-08-13T08:13:28Z</dcterms:modified>
</cp:coreProperties>
</file>